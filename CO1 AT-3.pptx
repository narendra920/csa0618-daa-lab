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85875"/>
            <a:ext cx="54864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2" kern="0" dirty="0">
                <a:solidFill>
                  <a:srgbClr val="FF6F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SEARCHING ALGORITHMS EFFICIENCY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71500" y="1930766"/>
            <a:ext cx="5486400" cy="1080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4350" b="1" spc="-2" kern="0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Case Analysis:</a:t>
            </a:r>
            <a:r>
              <a:rPr lang="en-US" sz="4350" b="1" spc="-2" kern="0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
</a:t>
            </a:r>
            <a:r>
              <a:rPr lang="en-US" sz="4350" b="1" spc="-2" kern="0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Binary Search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571500" y="3296562"/>
            <a:ext cx="54864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deep dive into Best, Average, and Worst-Case scenarios.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79581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spc="-2" kern="0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What is Binary Search?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857250" y="2308268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2236831"/>
            <a:ext cx="4496823" cy="479971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6F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Divide-and-Conquer</a:t>
            </a: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An efficient algorithm for finding an item from a sorted list.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7250" y="2966833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2895395"/>
            <a:ext cx="4496823" cy="479971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6F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Halving Strategy</a:t>
            </a: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Repeatedly dividing the search interval in half.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7250" y="3625397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3553960"/>
            <a:ext cx="4496823" cy="479971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6F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Prerequisite</a:t>
            </a: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The input data structure must be sorted.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54073" y="2122531"/>
            <a:ext cx="3218427" cy="2428875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8"/>
          <p:cNvSpPr/>
          <p:nvPr/>
        </p:nvSpPr>
        <p:spPr>
          <a:xfrm>
            <a:off x="5568386" y="2636881"/>
            <a:ext cx="2789802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F5E9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The Core Idea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68386" y="3083365"/>
            <a:ext cx="27898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F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By comparing the target to the middle element, we eliminate half of the remaining items in each step.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93831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spc="-2" kern="0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Best Case Scenario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836781"/>
            <a:ext cx="913954" cy="52863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836781"/>
            <a:ext cx="913954" cy="528638"/>
          </a:xfrm>
          <a:prstGeom prst="rect">
            <a:avLst/>
          </a:prstGeom>
          <a:noFill/>
          <a:ln/>
        </p:spPr>
        <p:txBody>
          <a:bodyPr wrap="non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Ω(1)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857250" y="2851193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2765468"/>
            <a:ext cx="4114800" cy="780064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target element is found at the **middle position** on the very first comparison.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7250" y="3845570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3759845"/>
            <a:ext cx="4114800" cy="52004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Algorithm terminates immediately after one check.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7250" y="4579925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1" name="Text 8"/>
          <p:cNvSpPr/>
          <p:nvPr/>
        </p:nvSpPr>
        <p:spPr>
          <a:xfrm>
            <a:off x="857250" y="4494200"/>
            <a:ext cx="4114800" cy="260021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Independent of the size of the array (n).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72150" y="3151231"/>
            <a:ext cx="280035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F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Constant Time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72150" y="3597715"/>
            <a:ext cx="2800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most ideal situation where the search space is eliminated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14625" y="1093831"/>
            <a:ext cx="58578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spc="-2" kern="0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Worst Case Scenario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714625" y="1765343"/>
            <a:ext cx="585787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6200" b="1" spc="-4" kern="0" dirty="0">
                <a:solidFill>
                  <a:srgbClr val="FF6F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O(log n)</a:t>
            </a:r>
            <a:endParaRPr lang="en-US" sz="6200" dirty="0"/>
          </a:p>
        </p:txBody>
      </p:sp>
      <p:sp>
        <p:nvSpPr>
          <p:cNvPr id="5" name="Shape 2"/>
          <p:cNvSpPr/>
          <p:nvPr/>
        </p:nvSpPr>
        <p:spPr>
          <a:xfrm>
            <a:off x="3000375" y="2779756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3000375" y="2708318"/>
            <a:ext cx="3007909" cy="479971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 is at the </a:t>
            </a:r>
            <a:r>
              <a:rPr lang="en-US" sz="1200" b="1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extremes</a:t>
            </a: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of the array or </a:t>
            </a:r>
            <a:r>
              <a:rPr lang="en-US" sz="1200" b="1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 present</a:t>
            </a: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at all.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000375" y="3345452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8" name="Text 5"/>
          <p:cNvSpPr/>
          <p:nvPr/>
        </p:nvSpPr>
        <p:spPr>
          <a:xfrm>
            <a:off x="3000375" y="3274014"/>
            <a:ext cx="3007909" cy="719956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search space is reduced to a single element through repeated halving.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000375" y="4151133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7"/>
          <p:cNvSpPr/>
          <p:nvPr/>
        </p:nvSpPr>
        <p:spPr>
          <a:xfrm>
            <a:off x="3000375" y="4079695"/>
            <a:ext cx="3007909" cy="719956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Maximum number of comparisons required: ⌊log₂ n⌋ + 1.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22597" y="2594018"/>
            <a:ext cx="2349903" cy="2319933"/>
          </a:xfrm>
          <a:prstGeom prst="rect">
            <a:avLst/>
          </a:prstGeom>
          <a:solidFill>
            <a:srgbClr val="FBC02D"/>
          </a:solidFill>
          <a:ln/>
        </p:spPr>
      </p:sp>
      <p:sp>
        <p:nvSpPr>
          <p:cNvPr id="12" name="Text 9"/>
          <p:cNvSpPr/>
          <p:nvPr/>
        </p:nvSpPr>
        <p:spPr>
          <a:xfrm>
            <a:off x="6436909" y="2936918"/>
            <a:ext cx="1921278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Logarithmic Growth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36909" y="3333397"/>
            <a:ext cx="192127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Even with billions of elements, the algorithm only takes about 30 steps to conclude.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93831"/>
            <a:ext cx="800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spc="-2" kern="0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Average Case Scenario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765343"/>
            <a:ext cx="1641890" cy="52863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765343"/>
            <a:ext cx="1641890" cy="528638"/>
          </a:xfrm>
          <a:prstGeom prst="rect">
            <a:avLst/>
          </a:prstGeom>
          <a:noFill/>
          <a:ln/>
        </p:spPr>
        <p:txBody>
          <a:bodyPr wrap="square" lIns="212598" tIns="85090" rIns="212598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8F5E9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Θ(log n)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857250" y="2779756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2694031"/>
            <a:ext cx="4514850" cy="52004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 element is distributed **randomly** across the array.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7250" y="3478392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3392667"/>
            <a:ext cx="4514850" cy="52004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Calculated by averaging comparisons for all possible positions.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7250" y="4177029"/>
            <a:ext cx="107156" cy="10715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1" name="Text 8"/>
          <p:cNvSpPr/>
          <p:nvPr/>
        </p:nvSpPr>
        <p:spPr>
          <a:xfrm>
            <a:off x="857250" y="4091304"/>
            <a:ext cx="4514850" cy="52004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Typically results in approximately **log₂ n - 1** comparisons.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43575" y="2579731"/>
            <a:ext cx="2828925" cy="2210209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3" name="Text 10"/>
          <p:cNvSpPr/>
          <p:nvPr/>
        </p:nvSpPr>
        <p:spPr>
          <a:xfrm>
            <a:off x="5957888" y="2994068"/>
            <a:ext cx="24003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The Logic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57888" y="3390547"/>
            <a:ext cx="24003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Since most elements reside in the lower levels of the decision tree, the average case remains logarithmic.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50956"/>
            <a:ext cx="58578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spc="-2" kern="0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Comparison of Cases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8644" y="1843925"/>
            <a:ext cx="1243682" cy="467916"/>
          </a:xfrm>
          <a:prstGeom prst="rect">
            <a:avLst/>
          </a:prstGeom>
          <a:solidFill>
            <a:srgbClr val="1B5E20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8644" y="1843925"/>
            <a:ext cx="1243682" cy="467916"/>
          </a:xfrm>
          <a:prstGeom prst="rect">
            <a:avLst/>
          </a:prstGeom>
          <a:noFill/>
          <a:ln/>
        </p:spPr>
        <p:txBody>
          <a:bodyPr wrap="none" lIns="170053" tIns="170053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F5E9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Scenario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820261" y="1843925"/>
            <a:ext cx="3478002" cy="467916"/>
          </a:xfrm>
          <a:prstGeom prst="rect">
            <a:avLst/>
          </a:prstGeom>
          <a:solidFill>
            <a:srgbClr val="1B5E20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0261" y="1843925"/>
            <a:ext cx="3478002" cy="467916"/>
          </a:xfrm>
          <a:prstGeom prst="rect">
            <a:avLst/>
          </a:prstGeom>
          <a:noFill/>
          <a:ln/>
        </p:spPr>
        <p:txBody>
          <a:bodyPr wrap="square" lIns="170053" tIns="170053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F5E9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Condition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98207" y="1843925"/>
            <a:ext cx="1124024" cy="467916"/>
          </a:xfrm>
          <a:prstGeom prst="rect">
            <a:avLst/>
          </a:prstGeom>
          <a:solidFill>
            <a:srgbClr val="1B5E20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98207" y="1843925"/>
            <a:ext cx="1124024" cy="467916"/>
          </a:xfrm>
          <a:prstGeom prst="rect">
            <a:avLst/>
          </a:prstGeom>
          <a:noFill/>
          <a:ln/>
        </p:spPr>
        <p:txBody>
          <a:bodyPr wrap="none" lIns="170053" tIns="170053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F5E9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Notation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8644" y="2297553"/>
            <a:ext cx="1240055" cy="715714"/>
          </a:xfrm>
          <a:prstGeom prst="rect">
            <a:avLst/>
          </a:prstGeom>
          <a:solidFill>
            <a:srgbClr val="FFFFFF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8644" y="2297553"/>
            <a:ext cx="1240055" cy="715714"/>
          </a:xfrm>
          <a:prstGeom prst="rect">
            <a:avLst/>
          </a:prstGeom>
          <a:noFill/>
          <a:ln/>
        </p:spPr>
        <p:txBody>
          <a:bodyPr wrap="square" lIns="170053" tIns="255143" rIns="8509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Best Case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18698" y="2297553"/>
            <a:ext cx="3483806" cy="715714"/>
          </a:xfrm>
          <a:prstGeom prst="rect">
            <a:avLst/>
          </a:prstGeom>
          <a:solidFill>
            <a:srgbClr val="FFFFFF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18698" y="2297553"/>
            <a:ext cx="3483806" cy="715714"/>
          </a:xfrm>
          <a:prstGeom prst="rect">
            <a:avLst/>
          </a:prstGeom>
          <a:noFill/>
          <a:ln/>
        </p:spPr>
        <p:txBody>
          <a:bodyPr wrap="square" lIns="170053" tIns="255143" rIns="8509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 is the middle element on the first comparison.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302393" y="2297553"/>
            <a:ext cx="1119839" cy="708571"/>
          </a:xfrm>
          <a:prstGeom prst="rect">
            <a:avLst/>
          </a:prstGeom>
          <a:solidFill>
            <a:srgbClr val="FFFFFF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2393" y="2297553"/>
            <a:ext cx="1119839" cy="708571"/>
          </a:xfrm>
          <a:prstGeom prst="rect">
            <a:avLst/>
          </a:prstGeom>
          <a:noFill/>
          <a:ln/>
        </p:spPr>
        <p:txBody>
          <a:bodyPr wrap="square" lIns="170053" tIns="255143" rIns="8509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6F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Ω(1)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78644" y="2998980"/>
            <a:ext cx="1240613" cy="955811"/>
          </a:xfrm>
          <a:prstGeom prst="rect">
            <a:avLst/>
          </a:prstGeom>
          <a:solidFill>
            <a:srgbClr val="FFFFFF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8644" y="2998980"/>
            <a:ext cx="1240613" cy="955811"/>
          </a:xfrm>
          <a:prstGeom prst="rect">
            <a:avLst/>
          </a:prstGeom>
          <a:noFill/>
          <a:ln/>
        </p:spPr>
        <p:txBody>
          <a:bodyPr wrap="square" lIns="170053" tIns="255143" rIns="8509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Case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814568" y="2998980"/>
            <a:ext cx="3487657" cy="955811"/>
          </a:xfrm>
          <a:prstGeom prst="rect">
            <a:avLst/>
          </a:prstGeom>
          <a:solidFill>
            <a:srgbClr val="FFFFFF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14568" y="2998980"/>
            <a:ext cx="3487657" cy="955811"/>
          </a:xfrm>
          <a:prstGeom prst="rect">
            <a:avLst/>
          </a:prstGeom>
          <a:noFill/>
          <a:ln/>
        </p:spPr>
        <p:txBody>
          <a:bodyPr wrap="square" lIns="170053" tIns="255143" rIns="8509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 is at a random position within the array.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302114" y="2991836"/>
            <a:ext cx="1120118" cy="955811"/>
          </a:xfrm>
          <a:prstGeom prst="rect">
            <a:avLst/>
          </a:prstGeom>
          <a:solidFill>
            <a:srgbClr val="FFFFFF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2114" y="2991836"/>
            <a:ext cx="1120118" cy="955811"/>
          </a:xfrm>
          <a:prstGeom prst="rect">
            <a:avLst/>
          </a:prstGeom>
          <a:noFill/>
          <a:ln/>
        </p:spPr>
        <p:txBody>
          <a:bodyPr wrap="square" lIns="170053" tIns="255143" rIns="8509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6F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Θ(log n)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78644" y="3700407"/>
            <a:ext cx="1231236" cy="955811"/>
          </a:xfrm>
          <a:prstGeom prst="rect">
            <a:avLst/>
          </a:prstGeom>
          <a:solidFill>
            <a:srgbClr val="FFFFFF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8644" y="3700407"/>
            <a:ext cx="1231236" cy="955811"/>
          </a:xfrm>
          <a:prstGeom prst="rect">
            <a:avLst/>
          </a:prstGeom>
          <a:noFill/>
          <a:ln/>
        </p:spPr>
        <p:txBody>
          <a:bodyPr wrap="square" lIns="170053" tIns="255143" rIns="8509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Worst Case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803127" y="3700407"/>
            <a:ext cx="3498875" cy="955811"/>
          </a:xfrm>
          <a:prstGeom prst="rect">
            <a:avLst/>
          </a:prstGeom>
          <a:solidFill>
            <a:srgbClr val="FFFFFF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03127" y="3700407"/>
            <a:ext cx="3498875" cy="955811"/>
          </a:xfrm>
          <a:prstGeom prst="rect">
            <a:avLst/>
          </a:prstGeom>
          <a:noFill/>
          <a:ln/>
        </p:spPr>
        <p:txBody>
          <a:bodyPr wrap="square" lIns="170053" tIns="255143" rIns="8509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 is at the ends or not present in the list.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302002" y="3693263"/>
            <a:ext cx="1120229" cy="955811"/>
          </a:xfrm>
          <a:prstGeom prst="rect">
            <a:avLst/>
          </a:prstGeom>
          <a:solidFill>
            <a:srgbClr val="FFFFFF"/>
          </a:solidFill>
          <a:ln w="18288">
            <a:solidFill>
              <a:srgbClr val="1B5E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2002" y="3693263"/>
            <a:ext cx="1120229" cy="955811"/>
          </a:xfrm>
          <a:prstGeom prst="rect">
            <a:avLst/>
          </a:prstGeom>
          <a:noFill/>
          <a:ln/>
        </p:spPr>
        <p:txBody>
          <a:bodyPr wrap="square" lIns="170053" tIns="255143" rIns="8509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6F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O(log n)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093831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spc="-2" kern="0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Why Worst-Case Analysis Matters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428625" y="2436856"/>
            <a:ext cx="107156" cy="107156"/>
          </a:xfrm>
          <a:prstGeom prst="rect">
            <a:avLst/>
          </a:prstGeom>
          <a:solidFill>
            <a:srgbClr val="FBC02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365418"/>
            <a:ext cx="4557713" cy="479971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**Guaranteed Performance**: Provides a strict upper bound on execution time, ensuring reliability.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28625" y="3059702"/>
            <a:ext cx="107156" cy="107156"/>
          </a:xfrm>
          <a:prstGeom prst="rect">
            <a:avLst/>
          </a:prstGeom>
          <a:solidFill>
            <a:srgbClr val="FBC02D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2988264"/>
            <a:ext cx="4557713" cy="479971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**Risk Mitigation**: Critical for real-time systems where exceeding a time limit can cause failure.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8625" y="3682547"/>
            <a:ext cx="107156" cy="107156"/>
          </a:xfrm>
          <a:prstGeom prst="rect">
            <a:avLst/>
          </a:prstGeom>
          <a:solidFill>
            <a:srgbClr val="FBC02D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3611110"/>
            <a:ext cx="4557713" cy="719956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**Asymptotic Parity**: In Binary Search, average and worst cases are both logarithmic, making worst-case a safe proxy.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43513" y="2365418"/>
            <a:ext cx="3471863" cy="264318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1" name="Text 8"/>
          <p:cNvSpPr/>
          <p:nvPr/>
        </p:nvSpPr>
        <p:spPr>
          <a:xfrm>
            <a:off x="5529263" y="2508293"/>
            <a:ext cx="29003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BC02D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The Verdict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529263" y="3051218"/>
            <a:ext cx="2900363" cy="1508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F5E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 practical software engineering, **Worst-Case Analysis** is the gold standard. It allows developers to plan for the "maximum cost" and meet Service Level Agreements (SLAs) with confidence.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41270"/>
            <a:ext cx="8001000" cy="462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3750" b="1" spc="-2" kern="0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Key Takeaways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1961350"/>
            <a:ext cx="128588" cy="12858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889913"/>
            <a:ext cx="4800600" cy="48287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Binary Search is highly efficient for large, sorted datasets.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1500" y="2622817"/>
            <a:ext cx="128588" cy="12858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551379"/>
            <a:ext cx="4800600" cy="48287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Logarithmic growth (O(log n)) significantly outperforms linear search.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1500" y="3284283"/>
            <a:ext cx="128588" cy="12858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3212846"/>
            <a:ext cx="4800600" cy="48287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Worst-case analysis provides the most reliable performance guarantee.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1500" y="3945750"/>
            <a:ext cx="128588" cy="12858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3874312"/>
            <a:ext cx="4800600" cy="48287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5E2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Sorting is a worthwhile one-time cost for frequent search operations.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72200" y="2232813"/>
            <a:ext cx="24003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6F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CONCLUSION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72200" y="2497131"/>
            <a:ext cx="2400300" cy="848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Efficiency through mathematical precision.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2026-07-20T03:52:11Z</dcterms:created>
  <dcterms:modified xsi:type="dcterms:W3CDTF">2026-07-20T03:52:11Z</dcterms:modified>
</cp:coreProperties>
</file>